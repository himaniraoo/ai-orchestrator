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365760" cy="6858000"/>
          </a:xfrm>
          <a:prstGeom prst="rect">
            <a:avLst/>
          </a:prstGeom>
          <a:solidFill>
            <a:srgbClr val="00A8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1645920"/>
            <a:ext cx="100584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600" b="1">
                <a:solidFill>
                  <a:srgbClr val="FFFFFF"/>
                </a:solidFill>
              </a:rPr>
              <a:t>Top Oncologists in California Treating NSCLC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292608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>
                <a:solidFill>
                  <a:srgbClr val="F2F4F7"/>
                </a:solidFill>
              </a:rPr>
              <a:t>This presentation summarizes top oncologists in California treating NSCLC based on provided physician data.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384048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00A8E8"/>
                </a:solidFill>
              </a:rPr>
              <a:t>ICD-10 Scope: C341 (Upper lobe NSCLC), C342 (Middle lobe NSCLC)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6035040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6B7280"/>
                </a:solidFill>
              </a:rPr>
              <a:t>Powered by DocNexus  |  May 28, 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00A8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137160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>
                <a:solidFill>
                  <a:srgbClr val="FFFFFF"/>
                </a:solidFill>
              </a:rPr>
              <a:t>Physician Population Overview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188720"/>
            <a:ext cx="27432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6000" b="1">
                <a:solidFill>
                  <a:srgbClr val="00A8E8"/>
                </a:solidFill>
              </a:rPr>
              <a:t>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2194560"/>
            <a:ext cx="2743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F2F4F7"/>
                </a:solidFill>
              </a:rPr>
              <a:t>Physicians Matched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657600" y="1188720"/>
            <a:ext cx="3657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00A8E8"/>
                </a:solidFill>
              </a:rPr>
              <a:t>Top Specialties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657600" y="1737360"/>
            <a:ext cx="36576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FFFFFF"/>
                </a:solidFill>
              </a:rPr>
              <a:t>Medical Oncology  —  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772400" y="1188720"/>
            <a:ext cx="3657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00A8E8"/>
                </a:solidFill>
              </a:rPr>
              <a:t>Top States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772400" y="1737360"/>
            <a:ext cx="36576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FFFFFF"/>
                </a:solidFill>
              </a:rPr>
              <a:t>CA  —  2 physicians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365760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00A8E8"/>
                </a:solidFill>
              </a:rPr>
              <a:t>Volume Tier Breakdown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" y="420624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FFFFFF"/>
                </a:solidFill>
              </a:rPr>
              <a:t>Very High: 2     High: 0     Low: 0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00A8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137160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>
                <a:solidFill>
                  <a:srgbClr val="FFFFFF"/>
                </a:solidFill>
              </a:rPr>
              <a:t>Key Insights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371600"/>
            <a:ext cx="137160" cy="137160"/>
          </a:xfrm>
          <a:prstGeom prst="rect">
            <a:avLst/>
          </a:prstGeom>
          <a:solidFill>
            <a:srgbClr val="00A8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77240" y="1234440"/>
            <a:ext cx="10515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>
                <a:solidFill>
                  <a:srgbClr val="FFFFFF"/>
                </a:solidFill>
              </a:rPr>
              <a:t>All 2 identified physicians are Medical Oncologists, exclusively practicing within California.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2286000"/>
            <a:ext cx="137160" cy="137160"/>
          </a:xfrm>
          <a:prstGeom prst="rect">
            <a:avLst/>
          </a:prstGeom>
          <a:solidFill>
            <a:srgbClr val="00A8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77240" y="2148840"/>
            <a:ext cx="10515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>
                <a:solidFill>
                  <a:srgbClr val="FFFFFF"/>
                </a:solidFill>
              </a:rPr>
              <a:t>Both 2 physicians fall into the 'very high' volume tier for NSCLC claims, indicating significant engagement in this disease area.</a:t>
            </a:r>
          </a:p>
        </p:txBody>
      </p:sp>
      <p:sp>
        <p:nvSpPr>
          <p:cNvPr id="8" name="Rectangle 7"/>
          <p:cNvSpPr/>
          <p:nvPr/>
        </p:nvSpPr>
        <p:spPr>
          <a:xfrm>
            <a:off x="457200" y="3200400"/>
            <a:ext cx="137160" cy="137160"/>
          </a:xfrm>
          <a:prstGeom prst="rect">
            <a:avLst/>
          </a:prstGeom>
          <a:solidFill>
            <a:srgbClr val="00A8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77240" y="3063240"/>
            <a:ext cx="10515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>
                <a:solidFill>
                  <a:srgbClr val="FFFFFF"/>
                </a:solidFill>
              </a:rPr>
              <a:t>Dr. Aisha Patel has the highest total NSCLC claims at 99, with Dr. James Nguyen closely following at 90 claims.</a:t>
            </a:r>
          </a:p>
        </p:txBody>
      </p:sp>
      <p:sp>
        <p:nvSpPr>
          <p:cNvPr id="10" name="Rectangle 9"/>
          <p:cNvSpPr/>
          <p:nvPr/>
        </p:nvSpPr>
        <p:spPr>
          <a:xfrm>
            <a:off x="457200" y="4114800"/>
            <a:ext cx="137160" cy="137160"/>
          </a:xfrm>
          <a:prstGeom prst="rect">
            <a:avLst/>
          </a:prstGeom>
          <a:solidFill>
            <a:srgbClr val="00A8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77240" y="3977639"/>
            <a:ext cx="10515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>
                <a:solidFill>
                  <a:srgbClr val="FFFFFF"/>
                </a:solidFill>
              </a:rPr>
              <a:t>Both top physicians show a higher claim volume for Upper lobe NSCLC (C341) compared to Middle lobe NSCLC (C342), with Dr. Patel having 87 C341 claims and Dr. Nguyen having 72 C341 claims.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00A8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137160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>
                <a:solidFill>
                  <a:srgbClr val="FFFFFF"/>
                </a:solidFill>
              </a:rPr>
              <a:t>Top 10 Physicians by NSCLC Claim Volume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274320" y="1097280"/>
          <a:ext cx="9875520" cy="53035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11680"/>
                <a:gridCol w="2194560"/>
                <a:gridCol w="640080"/>
                <a:gridCol w="3200400"/>
                <a:gridCol w="914400"/>
                <a:gridCol w="914400"/>
              </a:tblGrid>
              <a:tr h="1767840">
                <a:tc>
                  <a:txBody>
                    <a:bodyPr/>
                    <a:lstStyle/>
                    <a:p>
                      <a:r>
                        <a:rPr b="1" sz="1100">
                          <a:solidFill>
                            <a:srgbClr val="FFFFFF"/>
                          </a:solidFill>
                        </a:rPr>
                        <a:t>Name</a:t>
                      </a:r>
                    </a:p>
                  </a:txBody>
                  <a:tcPr>
                    <a:solidFill>
                      <a:srgbClr val="00A8E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b="1" sz="1100">
                          <a:solidFill>
                            <a:srgbClr val="FFFFFF"/>
                          </a:solidFill>
                        </a:rPr>
                        <a:t>Specialty</a:t>
                      </a:r>
                    </a:p>
                  </a:txBody>
                  <a:tcPr>
                    <a:solidFill>
                      <a:srgbClr val="00A8E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b="1" sz="1100">
                          <a:solidFill>
                            <a:srgbClr val="FFFFFF"/>
                          </a:solidFill>
                        </a:rPr>
                        <a:t>St.</a:t>
                      </a:r>
                    </a:p>
                  </a:txBody>
                  <a:tcPr>
                    <a:solidFill>
                      <a:srgbClr val="00A8E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b="1" sz="1100">
                          <a:solidFill>
                            <a:srgbClr val="FFFFFF"/>
                          </a:solidFill>
                        </a:rPr>
                        <a:t>Affiliation</a:t>
                      </a:r>
                    </a:p>
                  </a:txBody>
                  <a:tcPr>
                    <a:solidFill>
                      <a:srgbClr val="00A8E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b="1" sz="1100">
                          <a:solidFill>
                            <a:srgbClr val="FFFFFF"/>
                          </a:solidFill>
                        </a:rPr>
                        <a:t>Claims</a:t>
                      </a:r>
                    </a:p>
                  </a:txBody>
                  <a:tcPr>
                    <a:solidFill>
                      <a:srgbClr val="00A8E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b="1" sz="1100">
                          <a:solidFill>
                            <a:srgbClr val="FFFFFF"/>
                          </a:solidFill>
                        </a:rPr>
                        <a:t>Tier</a:t>
                      </a:r>
                    </a:p>
                  </a:txBody>
                  <a:tcPr>
                    <a:solidFill>
                      <a:srgbClr val="00A8E8"/>
                    </a:solidFill>
                  </a:tcPr>
                </a:tc>
              </a:tr>
              <a:tr h="1767840"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0D1B2A"/>
                          </a:solidFill>
                        </a:rPr>
                        <a:t>Aisha Patel</a:t>
                      </a:r>
                    </a:p>
                  </a:txBody>
                  <a:tcPr>
                    <a:solidFill>
                      <a:srgbClr val="E8F4F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0D1B2A"/>
                          </a:solidFill>
                        </a:rPr>
                        <a:t>Medical Oncology</a:t>
                      </a:r>
                    </a:p>
                  </a:txBody>
                  <a:tcPr>
                    <a:solidFill>
                      <a:srgbClr val="E8F4F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0D1B2A"/>
                          </a:solidFill>
                        </a:rPr>
                        <a:t>CA</a:t>
                      </a:r>
                    </a:p>
                  </a:txBody>
                  <a:tcPr>
                    <a:solidFill>
                      <a:srgbClr val="E8F4F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0D1B2A"/>
                          </a:solidFill>
                        </a:rPr>
                        <a:t>UCSF Medical Center</a:t>
                      </a:r>
                    </a:p>
                  </a:txBody>
                  <a:tcPr>
                    <a:solidFill>
                      <a:srgbClr val="E8F4F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0D1B2A"/>
                          </a:solidFill>
                        </a:rPr>
                        <a:t>99</a:t>
                      </a:r>
                    </a:p>
                  </a:txBody>
                  <a:tcPr>
                    <a:solidFill>
                      <a:srgbClr val="E8F4F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0D1B2A"/>
                          </a:solidFill>
                        </a:rPr>
                        <a:t>Very High</a:t>
                      </a:r>
                    </a:p>
                  </a:txBody>
                  <a:tcPr>
                    <a:solidFill>
                      <a:srgbClr val="E8F4FD"/>
                    </a:solidFill>
                  </a:tcPr>
                </a:tc>
              </a:tr>
              <a:tr h="1767840"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0D1B2A"/>
                          </a:solidFill>
                        </a:rPr>
                        <a:t>James Nguyen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0D1B2A"/>
                          </a:solidFill>
                        </a:rPr>
                        <a:t>Medical Oncology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0D1B2A"/>
                          </a:solidFill>
                        </a:rPr>
                        <a:t>CA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0D1B2A"/>
                          </a:solidFill>
                        </a:rPr>
                        <a:t>Cedars-Sinai Medical Center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0D1B2A"/>
                          </a:solidFill>
                        </a:rPr>
                        <a:t>90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0D1B2A"/>
                          </a:solidFill>
                        </a:rPr>
                        <a:t>Very High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